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70448"/>
            <a:ext cx="12191695" cy="987552"/>
          </a:xfrm>
          <a:prstGeom prst="rect">
            <a:avLst/>
          </a:prstGeom>
          <a:solidFill>
            <a:srgbClr val="22382F"/>
          </a:solidFill>
          <a:ln w="12700">
            <a:solidFill>
              <a:srgbClr val="2238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-822960"/>
            <a:ext cx="4754880" cy="4754880"/>
          </a:xfrm>
          <a:prstGeom prst="ellipse">
            <a:avLst/>
          </a:prstGeom>
          <a:solidFill>
            <a:srgbClr val="254B3F"/>
          </a:solidFill>
          <a:ln w="12700">
            <a:solidFill>
              <a:srgbClr val="254B3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137160"/>
            <a:ext cx="3108960" cy="3108960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05872" y="1572768"/>
            <a:ext cx="1005840" cy="1005840"/>
          </a:xfrm>
          <a:prstGeom prst="ellipse">
            <a:avLst/>
          </a:prstGeom>
          <a:solidFill>
            <a:srgbClr val="D94C3D"/>
          </a:solidFill>
          <a:ln w="12700">
            <a:solidFill>
              <a:srgbClr val="D94C3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88552" y="932688"/>
            <a:ext cx="1644091" cy="1644091"/>
          </a:xfrm>
          <a:prstGeom prst="ellipse">
            <a:avLst/>
          </a:prstGeom>
          <a:solidFill>
            <a:srgbClr val="ECF5EE"/>
          </a:solidFill>
          <a:ln w="12700">
            <a:solidFill>
              <a:srgbClr val="ECF5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58265" y="1102401"/>
            <a:ext cx="1304666" cy="130466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44655" y="1378184"/>
            <a:ext cx="583387" cy="583387"/>
          </a:xfrm>
          <a:prstGeom prst="ellipse">
            <a:avLst/>
          </a:prstGeom>
          <a:solidFill>
            <a:srgbClr val="EF9C45"/>
          </a:solidFill>
          <a:ln w="12700">
            <a:solidFill>
              <a:srgbClr val="EF9C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75007" y="1494861"/>
            <a:ext cx="296997" cy="296997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61332" y="1802465"/>
            <a:ext cx="254569" cy="254569"/>
          </a:xfrm>
          <a:prstGeom prst="ellipse">
            <a:avLst/>
          </a:prstGeom>
          <a:solidFill>
            <a:srgbClr val="D94C3D"/>
          </a:solidFill>
          <a:ln w="12700">
            <a:solidFill>
              <a:srgbClr val="D94C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68936" y="1908536"/>
            <a:ext cx="265176" cy="265176"/>
          </a:xfrm>
          <a:prstGeom prst="ellipse">
            <a:avLst/>
          </a:prstGeom>
          <a:solidFill>
            <a:srgbClr val="FFD889"/>
          </a:solidFill>
          <a:ln w="12700">
            <a:solidFill>
              <a:srgbClr val="FFD8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713232"/>
            <a:ext cx="1627632" cy="292608"/>
          </a:xfrm>
          <a:prstGeom prst="roundRect">
            <a:avLst>
              <a:gd name="adj" fmla="val 25000"/>
            </a:avLst>
          </a:prstGeom>
          <a:solidFill>
            <a:srgbClr val="FFD889"/>
          </a:solidFill>
          <a:ln w="12700">
            <a:solidFill>
              <a:srgbClr val="FFD88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790956"/>
            <a:ext cx="15910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RECIPE PLATFORM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49808" y="1572768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智能食谱生成系统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786384" y="2359152"/>
            <a:ext cx="6446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D9E6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从食材输入到 AI 菜谱生成、收藏编辑、购物清单与后台管理的完整 Web 应用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86384" y="312724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9C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+ TypeScript</a:t>
            </a:r>
            <a:pPr algn="l" indent="0" marL="0">
              <a:buNone/>
            </a:pPr>
            <a:r>
              <a:rPr lang="en-US" sz="1150" dirty="0">
                <a:solidFill>
                  <a:srgbClr val="B9C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Node.js + Express / MySQL / OpenAI Compatible + Gemini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86384" y="523036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D8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计科1班  202406024149  李相阳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04672" y="560527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8C9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课程项目答辩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7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PROJECT VALUE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项目要解决什么问题？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1234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把“今天吃什么”的模糊选择，变成可执行、可保存、可采购的做饭流程。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3232" y="1938528"/>
            <a:ext cx="3127248" cy="3456432"/>
          </a:xfrm>
          <a:prstGeom prst="roundRect">
            <a:avLst>
              <a:gd name="adj" fmla="val 2339"/>
            </a:avLst>
          </a:prstGeom>
          <a:solidFill>
            <a:srgbClr val="17211C"/>
          </a:solidFill>
          <a:ln w="12700">
            <a:solidFill>
              <a:srgbClr val="D7DED6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33272" y="2304288"/>
            <a:ext cx="438912" cy="438912"/>
          </a:xfrm>
          <a:prstGeom prst="ellipse">
            <a:avLst/>
          </a:prstGeom>
          <a:solidFill>
            <a:srgbClr val="EF9C45"/>
          </a:solidFill>
          <a:ln w="12700">
            <a:solidFill>
              <a:srgbClr val="EF9C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41401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33272" y="290779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33272" y="3529584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9E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有食材，但搭配困难；搜索结果碎片化，收藏和采购分散。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17136" y="1938528"/>
            <a:ext cx="3127248" cy="3456432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2700">
            <a:solidFill>
              <a:srgbClr val="D7DED6">
                <a:alpha val="8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37176" y="2304288"/>
            <a:ext cx="438912" cy="438912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37176" y="241401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37176" y="290779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837176" y="3529584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让用户输入食材和偏好，快速得到结构化菜谱并管理后续流程。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21040" y="1938528"/>
            <a:ext cx="3127248" cy="3456432"/>
          </a:xfrm>
          <a:prstGeom prst="roundRect">
            <a:avLst>
              <a:gd name="adj" fmla="val 2339"/>
            </a:avLst>
          </a:prstGeom>
          <a:solidFill>
            <a:srgbClr val="FFF4E3"/>
          </a:solidFill>
          <a:ln w="12700">
            <a:solidFill>
              <a:srgbClr val="D7DED6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41080" y="2304288"/>
            <a:ext cx="438912" cy="438912"/>
          </a:xfrm>
          <a:prstGeom prst="ellipse">
            <a:avLst/>
          </a:prstGeom>
          <a:solidFill>
            <a:srgbClr val="EF9C45"/>
          </a:solidFill>
          <a:ln w="12700">
            <a:solidFill>
              <a:srgbClr val="EF9C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41080" y="241401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41080" y="290779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641080" y="3529584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形成可登录、可管理、可部署的智能食谱 Web MVP。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20656" y="4224528"/>
            <a:ext cx="822046" cy="822046"/>
          </a:xfrm>
          <a:prstGeom prst="ellipse">
            <a:avLst/>
          </a:prstGeom>
          <a:solidFill>
            <a:srgbClr val="ECF5EE"/>
          </a:solidFill>
          <a:ln w="12700">
            <a:solidFill>
              <a:srgbClr val="ECF5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05512" y="4309384"/>
            <a:ext cx="652333" cy="65233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48707" y="4447276"/>
            <a:ext cx="291694" cy="291694"/>
          </a:xfrm>
          <a:prstGeom prst="ellipse">
            <a:avLst/>
          </a:prstGeom>
          <a:solidFill>
            <a:srgbClr val="EF9C45"/>
          </a:solidFill>
          <a:ln w="12700">
            <a:solidFill>
              <a:srgbClr val="EF9C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13883" y="4505615"/>
            <a:ext cx="148499" cy="148499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07046" y="4659417"/>
            <a:ext cx="127284" cy="127284"/>
          </a:xfrm>
          <a:prstGeom prst="ellipse">
            <a:avLst/>
          </a:prstGeom>
          <a:solidFill>
            <a:srgbClr val="D94C3D"/>
          </a:solidFill>
          <a:ln w="12700">
            <a:solidFill>
              <a:srgbClr val="D94C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60848" y="4712452"/>
            <a:ext cx="132588" cy="132588"/>
          </a:xfrm>
          <a:prstGeom prst="ellipse">
            <a:avLst/>
          </a:prstGeom>
          <a:solidFill>
            <a:srgbClr val="FFD889"/>
          </a:solidFill>
          <a:ln w="12700">
            <a:solidFill>
              <a:srgbClr val="FFD8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D98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智能食谱生成系统 · 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7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PRODUCT SCOPE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功能模块总览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1234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用户端负责“做饭流程”，管理端负责“系统运营与配置”。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3232" y="1938528"/>
            <a:ext cx="530352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D7DE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0" y="1938528"/>
            <a:ext cx="5303520" cy="3886200"/>
          </a:xfrm>
          <a:prstGeom prst="roundRect">
            <a:avLst>
              <a:gd name="adj" fmla="val 1882"/>
            </a:avLst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042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556248" y="23042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1115568" y="2871216"/>
            <a:ext cx="438912" cy="438912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980944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90779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生成菜谱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127248" y="29077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食材 + 人数 + 口味 + 时间 + 忌口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115568" y="3493008"/>
            <a:ext cx="438912" cy="438912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60273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35295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收藏详情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27248" y="35295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保存结果、查看步骤、视频搜索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115568" y="4114800"/>
            <a:ext cx="438912" cy="438912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4224528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415137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编辑版本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27248" y="415137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个人副本、版本历史、历史恢复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115568" y="4736592"/>
            <a:ext cx="438912" cy="438912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4846320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37360" y="47731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购物清单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127248" y="477316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合并食材数量、勾选、导出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74536" y="2871216"/>
            <a:ext cx="438912" cy="438912"/>
          </a:xfrm>
          <a:prstGeom prst="ellipse">
            <a:avLst/>
          </a:prstGeom>
          <a:solidFill>
            <a:srgbClr val="BFE8D3"/>
          </a:solidFill>
          <a:ln w="12700">
            <a:solidFill>
              <a:srgbClr val="BFE8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74536" y="2980944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96328" y="29077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数据看板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750808" y="29077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6D8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用户、菜谱、收藏数量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74536" y="3493008"/>
            <a:ext cx="438912" cy="438912"/>
          </a:xfrm>
          <a:prstGeom prst="ellipse">
            <a:avLst/>
          </a:prstGeom>
          <a:solidFill>
            <a:srgbClr val="BFE8D3"/>
          </a:solidFill>
          <a:ln w="12700">
            <a:solidFill>
              <a:srgbClr val="BFE8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74536" y="360273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96328" y="35295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用户菜谱管理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750808" y="35295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6D8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新增、删除、批量处理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74536" y="4114800"/>
            <a:ext cx="438912" cy="438912"/>
          </a:xfrm>
          <a:prstGeom prst="ellipse">
            <a:avLst/>
          </a:prstGeom>
          <a:solidFill>
            <a:srgbClr val="EF9C45"/>
          </a:solidFill>
          <a:ln w="12700">
            <a:solidFill>
              <a:srgbClr val="EF9C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74536" y="4224528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96328" y="415137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配置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750808" y="415137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6D8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Mock / OpenAI / Gemini 切换测试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574536" y="4736592"/>
            <a:ext cx="438912" cy="438912"/>
          </a:xfrm>
          <a:prstGeom prst="ellipse">
            <a:avLst/>
          </a:prstGeom>
          <a:solidFill>
            <a:srgbClr val="BFE8D3"/>
          </a:solidFill>
          <a:ln w="12700">
            <a:solidFill>
              <a:srgbClr val="BFE8D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74536" y="4846320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96328" y="47731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站点外观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750808" y="477316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6D8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名称、Logo、favicon、首页图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8368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D98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智能食谱生成系统 · 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7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1234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前后端分离，AI 能力封装在统一策略层，部署时由 Nginx 反向代理 API。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224028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7DED6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1832" y="2624328"/>
            <a:ext cx="438912" cy="438912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73405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32688" y="33192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前端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32688" y="37033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 / TS / Tailwind / i18next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44952" y="3355848"/>
            <a:ext cx="411480" cy="0"/>
          </a:xfrm>
          <a:prstGeom prst="line">
            <a:avLst/>
          </a:prstGeom>
          <a:noFill/>
          <a:ln w="27940">
            <a:solidFill>
              <a:srgbClr val="EF9C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3401568" y="3246120"/>
            <a:ext cx="219456" cy="219456"/>
          </a:xfrm>
          <a:prstGeom prst="triangle">
            <a:avLst/>
          </a:prstGeom>
          <a:solidFill>
            <a:srgbClr val="EF9C45"/>
          </a:solidFill>
          <a:ln w="12700">
            <a:solidFill>
              <a:srgbClr val="EF9C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2331720"/>
            <a:ext cx="2240280" cy="1993392"/>
          </a:xfrm>
          <a:prstGeom prst="roundRect">
            <a:avLst>
              <a:gd name="adj" fmla="val 3670"/>
            </a:avLst>
          </a:prstGeom>
          <a:solidFill>
            <a:srgbClr val="FFF4E3"/>
          </a:solidFill>
          <a:ln w="12700">
            <a:solidFill>
              <a:srgbClr val="D7DED6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22192" y="2624328"/>
            <a:ext cx="438912" cy="438912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22192" y="273405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13048" y="33192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Express API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813048" y="37033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 / 菜谱 / 后台 / 日志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25312" y="3355848"/>
            <a:ext cx="411480" cy="0"/>
          </a:xfrm>
          <a:prstGeom prst="line">
            <a:avLst/>
          </a:prstGeom>
          <a:noFill/>
          <a:ln w="27940">
            <a:solidFill>
              <a:srgbClr val="EF9C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6281928" y="3246120"/>
            <a:ext cx="219456" cy="219456"/>
          </a:xfrm>
          <a:prstGeom prst="triangle">
            <a:avLst/>
          </a:prstGeom>
          <a:solidFill>
            <a:srgbClr val="EF9C45"/>
          </a:solidFill>
          <a:ln w="12700">
            <a:solidFill>
              <a:srgbClr val="EF9C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2331720"/>
            <a:ext cx="224028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7DED6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02552" y="2624328"/>
            <a:ext cx="438912" cy="438912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2552" y="273405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82712" y="2578608"/>
            <a:ext cx="438912" cy="566928"/>
          </a:xfrm>
          <a:prstGeom prst="can">
            <a:avLst/>
          </a:prstGeom>
          <a:solidFill>
            <a:srgbClr val="214D3D"/>
          </a:solidFill>
          <a:ln w="12700">
            <a:solidFill>
              <a:srgbClr val="214D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2440" y="2737348"/>
            <a:ext cx="219456" cy="0"/>
          </a:xfrm>
          <a:prstGeom prst="line">
            <a:avLst/>
          </a:prstGeom>
          <a:noFill/>
          <a:ln w="11430">
            <a:solidFill>
              <a:srgbClr val="E4EFE8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92440" y="2879080"/>
            <a:ext cx="219456" cy="0"/>
          </a:xfrm>
          <a:prstGeom prst="line">
            <a:avLst/>
          </a:prstGeom>
          <a:noFill/>
          <a:ln w="11430">
            <a:solidFill>
              <a:srgbClr val="E4EFE8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93408" y="33192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693408" y="37033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/ 菜谱 / 收藏 / 版本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805672" y="3355848"/>
            <a:ext cx="411480" cy="0"/>
          </a:xfrm>
          <a:prstGeom prst="line">
            <a:avLst/>
          </a:prstGeom>
          <a:noFill/>
          <a:ln w="27940">
            <a:solidFill>
              <a:srgbClr val="EF9C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5400000">
            <a:off x="9162288" y="3246120"/>
            <a:ext cx="219456" cy="219456"/>
          </a:xfrm>
          <a:prstGeom prst="triangle">
            <a:avLst/>
          </a:prstGeom>
          <a:solidFill>
            <a:srgbClr val="EF9C45"/>
          </a:solidFill>
          <a:ln w="12700">
            <a:solidFill>
              <a:srgbClr val="EF9C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26880" y="2331720"/>
            <a:ext cx="224028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7DED6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582912" y="2624328"/>
            <a:ext cx="438912" cy="438912"/>
          </a:xfrm>
          <a:prstGeom prst="ellipse">
            <a:avLst/>
          </a:prstGeom>
          <a:solidFill>
            <a:srgbClr val="D94C3D"/>
          </a:solidFill>
          <a:ln w="12700">
            <a:solidFill>
              <a:srgbClr val="D94C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82912" y="273405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573768" y="33192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Provider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9573768" y="37033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Mock / OpenAI / Gemini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856232" y="5166360"/>
            <a:ext cx="8458200" cy="457200"/>
          </a:xfrm>
          <a:prstGeom prst="roundRect">
            <a:avLst>
              <a:gd name="adj" fmla="val 16000"/>
            </a:avLst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56232" y="5321808"/>
            <a:ext cx="8458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BFE8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Compose：MySQL + Backend + Frontend Nginx，一键构建启动；也支持非 Docker 部署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658368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D98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智能食谱生成系统 · 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2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D8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USER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核心用户流程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1234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FE1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从输入食材到拿着购物清单去采购，形成一个完整闭环。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3232" y="2377440"/>
            <a:ext cx="1691640" cy="1965960"/>
          </a:xfrm>
          <a:prstGeom prst="roundRect">
            <a:avLst>
              <a:gd name="adj" fmla="val 4324"/>
            </a:avLst>
          </a:prstGeom>
          <a:solidFill>
            <a:srgbClr val="203C33"/>
          </a:solidFill>
          <a:ln w="12700">
            <a:solidFill>
              <a:srgbClr val="203C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7004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FE8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98094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35478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FE1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食材和偏好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78024" y="3355848"/>
            <a:ext cx="292608" cy="0"/>
          </a:xfrm>
          <a:prstGeom prst="line">
            <a:avLst/>
          </a:prstGeom>
          <a:noFill/>
          <a:ln w="27940">
            <a:solidFill>
              <a:srgbClr val="EF9C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2715768" y="3246120"/>
            <a:ext cx="219456" cy="219456"/>
          </a:xfrm>
          <a:prstGeom prst="triangle">
            <a:avLst/>
          </a:prstGeom>
          <a:solidFill>
            <a:srgbClr val="EF9C45"/>
          </a:solidFill>
          <a:ln w="12700">
            <a:solidFill>
              <a:srgbClr val="EF9C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80944" y="2377440"/>
            <a:ext cx="1691640" cy="1965960"/>
          </a:xfrm>
          <a:prstGeom prst="roundRect">
            <a:avLst>
              <a:gd name="adj" fmla="val 4324"/>
            </a:avLst>
          </a:prstGeom>
          <a:solidFill>
            <a:srgbClr val="203C33"/>
          </a:solidFill>
          <a:ln w="12700">
            <a:solidFill>
              <a:srgbClr val="203C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267004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FE8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82112" y="298094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182112" y="35478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FE1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多道结构化菜谱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45736" y="3355848"/>
            <a:ext cx="292608" cy="0"/>
          </a:xfrm>
          <a:prstGeom prst="line">
            <a:avLst/>
          </a:prstGeom>
          <a:noFill/>
          <a:ln w="27940">
            <a:solidFill>
              <a:srgbClr val="EF9C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4983480" y="3246120"/>
            <a:ext cx="219456" cy="219456"/>
          </a:xfrm>
          <a:prstGeom prst="triangle">
            <a:avLst/>
          </a:prstGeom>
          <a:solidFill>
            <a:srgbClr val="EF9C45"/>
          </a:solidFill>
          <a:ln w="12700">
            <a:solidFill>
              <a:srgbClr val="EF9C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48656" y="2377440"/>
            <a:ext cx="1691640" cy="1965960"/>
          </a:xfrm>
          <a:prstGeom prst="roundRect">
            <a:avLst>
              <a:gd name="adj" fmla="val 4324"/>
            </a:avLst>
          </a:prstGeom>
          <a:solidFill>
            <a:srgbClr val="203C33"/>
          </a:solidFill>
          <a:ln w="12700">
            <a:solidFill>
              <a:srgbClr val="203C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9824" y="267004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FE8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9824" y="298094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5449824" y="35478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FE1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保存喜欢的结果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13448" y="3355848"/>
            <a:ext cx="292608" cy="0"/>
          </a:xfrm>
          <a:prstGeom prst="line">
            <a:avLst/>
          </a:prstGeom>
          <a:noFill/>
          <a:ln w="27940">
            <a:solidFill>
              <a:srgbClr val="EF9C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5400000">
            <a:off x="7251192" y="3246120"/>
            <a:ext cx="219456" cy="219456"/>
          </a:xfrm>
          <a:prstGeom prst="triangle">
            <a:avLst/>
          </a:prstGeom>
          <a:solidFill>
            <a:srgbClr val="EF9C45"/>
          </a:solidFill>
          <a:ln w="12700">
            <a:solidFill>
              <a:srgbClr val="EF9C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16368" y="2377440"/>
            <a:ext cx="1691640" cy="1965960"/>
          </a:xfrm>
          <a:prstGeom prst="roundRect">
            <a:avLst>
              <a:gd name="adj" fmla="val 4324"/>
            </a:avLst>
          </a:prstGeom>
          <a:solidFill>
            <a:srgbClr val="203C33"/>
          </a:solidFill>
          <a:ln w="12700">
            <a:solidFill>
              <a:srgbClr val="203C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17536" y="267004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FE8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17536" y="298094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7717536" y="35478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FE1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个人副本与版本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281160" y="3355848"/>
            <a:ext cx="292608" cy="0"/>
          </a:xfrm>
          <a:prstGeom prst="line">
            <a:avLst/>
          </a:prstGeom>
          <a:noFill/>
          <a:ln w="27940">
            <a:solidFill>
              <a:srgbClr val="FFD88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5400000">
            <a:off x="9518904" y="3246120"/>
            <a:ext cx="219456" cy="219456"/>
          </a:xfrm>
          <a:prstGeom prst="triangle">
            <a:avLst/>
          </a:prstGeom>
          <a:solidFill>
            <a:srgbClr val="FFD889"/>
          </a:solidFill>
          <a:ln w="12700">
            <a:solidFill>
              <a:srgbClr val="FFD88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84080" y="2377440"/>
            <a:ext cx="1691640" cy="1965960"/>
          </a:xfrm>
          <a:prstGeom prst="roundRect">
            <a:avLst>
              <a:gd name="adj" fmla="val 4324"/>
            </a:avLst>
          </a:prstGeom>
          <a:solidFill>
            <a:srgbClr val="FFD889"/>
          </a:solidFill>
          <a:ln w="12700">
            <a:solidFill>
              <a:srgbClr val="FFD88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85248" y="267004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985248" y="298094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</a:t>
            </a:r>
            <a:endParaRPr lang="en-US" sz="2300" dirty="0"/>
          </a:p>
        </p:txBody>
      </p:sp>
      <p:sp>
        <p:nvSpPr>
          <p:cNvPr id="32" name="Text 30"/>
          <p:cNvSpPr/>
          <p:nvPr/>
        </p:nvSpPr>
        <p:spPr>
          <a:xfrm>
            <a:off x="9985248" y="35478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042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自动合并购物清单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25296" y="5303520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8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答辩演示建议：生成菜谱 → 收藏详情 → 编辑个人副本 → 查看版本历史 → 生成购物清单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58368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EC5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智能食谱生成系统 · 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7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AI PIPELINE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菜谱生成流程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1234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统一输入、统一输出，业务层不依赖具体模型，便于扩展和替换。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86384" y="1874520"/>
            <a:ext cx="2697480" cy="31546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7DED6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26280" y="1572768"/>
            <a:ext cx="2944368" cy="3749040"/>
          </a:xfrm>
          <a:prstGeom prst="roundRect">
            <a:avLst>
              <a:gd name="adj" fmla="val 2484"/>
            </a:avLst>
          </a:prstGeom>
          <a:solidFill>
            <a:srgbClr val="17211C"/>
          </a:solidFill>
          <a:ln w="12700">
            <a:solidFill>
              <a:srgbClr val="D7DED6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321040" y="1874520"/>
            <a:ext cx="2788920" cy="315468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7DED6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78992" y="22494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06424" y="2816352"/>
            <a:ext cx="1755648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食材列表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人数、口味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耗时、饮食目标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忌口信息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37176" y="19842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策略层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37176" y="2578608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D7E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recipeAiService 根据后台设置创建策略：MockRecipeStrategy、OpenAiRecipeStrategy 或 GeminiRecipeStrategy。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4837176" y="4160520"/>
            <a:ext cx="1783080" cy="292608"/>
          </a:xfrm>
          <a:prstGeom prst="roundRect">
            <a:avLst>
              <a:gd name="adj" fmla="val 25000"/>
            </a:avLst>
          </a:prstGeom>
          <a:solidFill>
            <a:srgbClr val="FFD889"/>
          </a:solidFill>
          <a:ln w="12700">
            <a:solidFill>
              <a:srgbClr val="FFD88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5464" y="4238244"/>
            <a:ext cx="1746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Promise.allSettled 并行批次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613648" y="22494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41080" y="2816352"/>
            <a:ext cx="1755648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标题与分类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食材数组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摘要说明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详细步骤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图片提示词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703320" y="3264408"/>
            <a:ext cx="493776" cy="0"/>
          </a:xfrm>
          <a:prstGeom prst="line">
            <a:avLst/>
          </a:prstGeom>
          <a:noFill/>
          <a:ln w="27940">
            <a:solidFill>
              <a:srgbClr val="EF9C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4142232" y="3154680"/>
            <a:ext cx="219456" cy="219456"/>
          </a:xfrm>
          <a:prstGeom prst="triangle">
            <a:avLst/>
          </a:prstGeom>
          <a:solidFill>
            <a:srgbClr val="EF9C45"/>
          </a:solidFill>
          <a:ln w="12700">
            <a:solidFill>
              <a:srgbClr val="EF9C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62672" y="3264408"/>
            <a:ext cx="493776" cy="0"/>
          </a:xfrm>
          <a:prstGeom prst="line">
            <a:avLst/>
          </a:prstGeom>
          <a:noFill/>
          <a:ln w="27940">
            <a:solidFill>
              <a:srgbClr val="EF9C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8101584" y="3154680"/>
            <a:ext cx="219456" cy="219456"/>
          </a:xfrm>
          <a:prstGeom prst="triangle">
            <a:avLst/>
          </a:prstGeom>
          <a:solidFill>
            <a:srgbClr val="EF9C45"/>
          </a:solidFill>
          <a:ln w="12700">
            <a:solidFill>
              <a:srgbClr val="EF9C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D98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智能食谱生成系统 · 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7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DATA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数据设计亮点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1234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关键设计是处理“共享菜谱”和“个人编辑”的边界。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49808" y="1901952"/>
            <a:ext cx="299923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DED6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112264"/>
            <a:ext cx="329184" cy="438912"/>
          </a:xfrm>
          <a:prstGeom prst="can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2235159"/>
            <a:ext cx="109728" cy="0"/>
          </a:xfrm>
          <a:prstGeom prst="line">
            <a:avLst/>
          </a:prstGeom>
          <a:noFill/>
          <a:ln w="11430">
            <a:solidFill>
              <a:srgbClr val="E4EFE8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2344887"/>
            <a:ext cx="109728" cy="0"/>
          </a:xfrm>
          <a:prstGeom prst="line">
            <a:avLst/>
          </a:prstGeom>
          <a:noFill/>
          <a:ln w="11430">
            <a:solidFill>
              <a:srgbClr val="E4EFE8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99616" y="21214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499616" y="24505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账号、密码哈希、角色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4517136" y="1901952"/>
            <a:ext cx="2999232" cy="987552"/>
          </a:xfrm>
          <a:prstGeom prst="roundRect">
            <a:avLst>
              <a:gd name="adj" fmla="val 7407"/>
            </a:avLst>
          </a:prstGeom>
          <a:solidFill>
            <a:srgbClr val="17211C"/>
          </a:solidFill>
          <a:ln w="12700">
            <a:solidFill>
              <a:srgbClr val="D7DED6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73168" y="2112264"/>
            <a:ext cx="329184" cy="438912"/>
          </a:xfrm>
          <a:prstGeom prst="can">
            <a:avLst/>
          </a:prstGeom>
          <a:solidFill>
            <a:srgbClr val="FFD889"/>
          </a:solidFill>
          <a:ln w="12700">
            <a:solidFill>
              <a:srgbClr val="FFD8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82896" y="2235159"/>
            <a:ext cx="109728" cy="0"/>
          </a:xfrm>
          <a:prstGeom prst="line">
            <a:avLst/>
          </a:prstGeom>
          <a:noFill/>
          <a:ln w="11430">
            <a:solidFill>
              <a:srgbClr val="E4EFE8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82896" y="2344887"/>
            <a:ext cx="109728" cy="0"/>
          </a:xfrm>
          <a:prstGeom prst="line">
            <a:avLst/>
          </a:prstGeom>
          <a:noFill/>
          <a:ln w="11430">
            <a:solidFill>
              <a:srgbClr val="E4EFE8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66944" y="21214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recipes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266944" y="24505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CFE1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公共菜谱 / 个人副本 / 原始来源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8284464" y="1901952"/>
            <a:ext cx="299923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DED6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40496" y="2112264"/>
            <a:ext cx="329184" cy="438912"/>
          </a:xfrm>
          <a:prstGeom prst="can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50224" y="2235159"/>
            <a:ext cx="109728" cy="0"/>
          </a:xfrm>
          <a:prstGeom prst="line">
            <a:avLst/>
          </a:prstGeom>
          <a:noFill/>
          <a:ln w="11430">
            <a:solidFill>
              <a:srgbClr val="E4EFE8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50224" y="2344887"/>
            <a:ext cx="109728" cy="0"/>
          </a:xfrm>
          <a:prstGeom prst="line">
            <a:avLst/>
          </a:prstGeom>
          <a:noFill/>
          <a:ln w="11430">
            <a:solidFill>
              <a:srgbClr val="E4EFE8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34272" y="21214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user_saved_recipes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034272" y="24505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用户收藏关系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749808" y="3346704"/>
            <a:ext cx="2999232" cy="987552"/>
          </a:xfrm>
          <a:prstGeom prst="roundRect">
            <a:avLst>
              <a:gd name="adj" fmla="val 7407"/>
            </a:avLst>
          </a:prstGeom>
          <a:solidFill>
            <a:srgbClr val="17211C"/>
          </a:solidFill>
          <a:ln w="12700">
            <a:solidFill>
              <a:srgbClr val="D7DED6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05840" y="3557016"/>
            <a:ext cx="329184" cy="438912"/>
          </a:xfrm>
          <a:prstGeom prst="can">
            <a:avLst/>
          </a:prstGeom>
          <a:solidFill>
            <a:srgbClr val="FFD889"/>
          </a:solidFill>
          <a:ln w="12700">
            <a:solidFill>
              <a:srgbClr val="FFD88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5568" y="3679911"/>
            <a:ext cx="109728" cy="0"/>
          </a:xfrm>
          <a:prstGeom prst="line">
            <a:avLst/>
          </a:prstGeom>
          <a:noFill/>
          <a:ln w="11430">
            <a:solidFill>
              <a:srgbClr val="E4EFE8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5568" y="3789639"/>
            <a:ext cx="109728" cy="0"/>
          </a:xfrm>
          <a:prstGeom prst="line">
            <a:avLst/>
          </a:prstGeom>
          <a:noFill/>
          <a:ln w="11430">
            <a:solidFill>
              <a:srgbClr val="E4EFE8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9616" y="35661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recipe_versions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499616" y="38953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CFE1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编辑快照和历史恢复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4517136" y="3346704"/>
            <a:ext cx="299923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DED6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73168" y="3557016"/>
            <a:ext cx="329184" cy="438912"/>
          </a:xfrm>
          <a:prstGeom prst="can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82896" y="3679911"/>
            <a:ext cx="109728" cy="0"/>
          </a:xfrm>
          <a:prstGeom prst="line">
            <a:avLst/>
          </a:prstGeom>
          <a:noFill/>
          <a:ln w="11430">
            <a:solidFill>
              <a:srgbClr val="E4EFE8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82896" y="3789639"/>
            <a:ext cx="109728" cy="0"/>
          </a:xfrm>
          <a:prstGeom prst="line">
            <a:avLst/>
          </a:prstGeom>
          <a:noFill/>
          <a:ln w="11430">
            <a:solidFill>
              <a:srgbClr val="E4EFE8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66944" y="35661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system_settings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266944" y="38953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与站点外观配置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8284464" y="3346704"/>
            <a:ext cx="299923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DED6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540496" y="3557016"/>
            <a:ext cx="329184" cy="438912"/>
          </a:xfrm>
          <a:prstGeom prst="can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50224" y="3679911"/>
            <a:ext cx="109728" cy="0"/>
          </a:xfrm>
          <a:prstGeom prst="line">
            <a:avLst/>
          </a:prstGeom>
          <a:noFill/>
          <a:ln w="11430">
            <a:solidFill>
              <a:srgbClr val="E4EFE8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50224" y="3789639"/>
            <a:ext cx="109728" cy="0"/>
          </a:xfrm>
          <a:prstGeom prst="line">
            <a:avLst/>
          </a:prstGeom>
          <a:noFill/>
          <a:ln w="11430">
            <a:solidFill>
              <a:srgbClr val="E4EFE8">
                <a:alpha val="4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34272" y="35661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usage_logs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034272" y="38953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用户和管理员操作日志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1874520" y="5166360"/>
            <a:ext cx="8430768" cy="438912"/>
          </a:xfrm>
          <a:prstGeom prst="roundRect">
            <a:avLst>
              <a:gd name="adj" fmla="val 16667"/>
            </a:avLst>
          </a:prstGeom>
          <a:solidFill>
            <a:srgbClr val="D94C3D"/>
          </a:solidFill>
          <a:ln w="12700">
            <a:solidFill>
              <a:srgbClr val="D94C3D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74520" y="5312664"/>
            <a:ext cx="8430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普通用户编辑共享菜谱时创建个人副本，避免污染公共菜谱；每次编辑前保存版本快照。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58368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D98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智能食谱生成系统 · 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7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ADMIN CONSOLE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后台管理能力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1234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项目不仅能给用户生成菜谱，也提供管理、配置和运维入口。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4983480" cy="3584448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DED6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828800"/>
            <a:ext cx="4983480" cy="384048"/>
          </a:xfrm>
          <a:prstGeom prst="roundRect">
            <a:avLst>
              <a:gd name="adj" fmla="val 19048"/>
            </a:avLst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65960"/>
            <a:ext cx="91440" cy="91440"/>
          </a:xfrm>
          <a:prstGeom prst="ellipse">
            <a:avLst/>
          </a:prstGeom>
          <a:solidFill>
            <a:srgbClr val="D94C3D"/>
          </a:solidFill>
          <a:ln w="12700">
            <a:solidFill>
              <a:srgbClr val="D94C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" y="1965960"/>
            <a:ext cx="91440" cy="91440"/>
          </a:xfrm>
          <a:prstGeom prst="ellipse">
            <a:avLst/>
          </a:prstGeom>
          <a:solidFill>
            <a:srgbClr val="FFD889"/>
          </a:solidFill>
          <a:ln w="12700">
            <a:solidFill>
              <a:srgbClr val="FFD8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965960"/>
            <a:ext cx="91440" cy="91440"/>
          </a:xfrm>
          <a:prstGeom prst="ellipse">
            <a:avLst/>
          </a:prstGeom>
          <a:solidFill>
            <a:srgbClr val="BFE8D3"/>
          </a:solidFill>
          <a:ln w="12700">
            <a:solidFill>
              <a:srgbClr val="BFE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26464" y="1956816"/>
            <a:ext cx="4069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5E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 Dashboard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14400" y="2468880"/>
            <a:ext cx="4581144" cy="384048"/>
          </a:xfrm>
          <a:prstGeom prst="roundRect">
            <a:avLst>
              <a:gd name="adj" fmla="val 19048"/>
            </a:avLst>
          </a:prstGeom>
          <a:solidFill>
            <a:srgbClr val="F0F5F2"/>
          </a:solidFill>
          <a:ln w="12700">
            <a:solidFill>
              <a:srgbClr val="F0F5F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054096"/>
            <a:ext cx="4581144" cy="749808"/>
          </a:xfrm>
          <a:prstGeom prst="roundRect">
            <a:avLst>
              <a:gd name="adj" fmla="val 9756"/>
            </a:avLst>
          </a:prstGeom>
          <a:solidFill>
            <a:srgbClr val="FFF4E3"/>
          </a:solidFill>
          <a:ln w="12700">
            <a:solidFill>
              <a:srgbClr val="FFF4E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986784"/>
            <a:ext cx="4581144" cy="256032"/>
          </a:xfrm>
          <a:prstGeom prst="roundRect">
            <a:avLst>
              <a:gd name="adj" fmla="val 28571"/>
            </a:avLst>
          </a:prstGeom>
          <a:solidFill>
            <a:srgbClr val="2F7D5A"/>
          </a:solidFill>
          <a:ln w="12700">
            <a:solidFill>
              <a:srgbClr val="2F7D5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434840"/>
            <a:ext cx="2208276" cy="694944"/>
          </a:xfrm>
          <a:prstGeom prst="roundRect">
            <a:avLst>
              <a:gd name="adj" fmla="val 10526"/>
            </a:avLst>
          </a:prstGeom>
          <a:solidFill>
            <a:srgbClr val="F6F3EA"/>
          </a:solidFill>
          <a:ln w="12700">
            <a:solidFill>
              <a:srgbClr val="D7DE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87268" y="4434840"/>
            <a:ext cx="2208276" cy="694944"/>
          </a:xfrm>
          <a:prstGeom prst="roundRect">
            <a:avLst>
              <a:gd name="adj" fmla="val 10526"/>
            </a:avLst>
          </a:prstGeom>
          <a:solidFill>
            <a:srgbClr val="F6F3EA"/>
          </a:solidFill>
          <a:ln w="12700">
            <a:solidFill>
              <a:srgbClr val="D7DE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29900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管理面板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34564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统计、用户、菜谱、日志、账号、外观、AI 模型配置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27648" y="1901952"/>
            <a:ext cx="214884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2700">
            <a:solidFill>
              <a:srgbClr val="D7DED6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56248" y="2212848"/>
            <a:ext cx="438912" cy="438912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23225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14032" y="21579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7114032" y="250545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/ 菜谱 / 收藏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8933688" y="1901952"/>
            <a:ext cx="214884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2700">
            <a:solidFill>
              <a:srgbClr val="D7DED6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62288" y="2212848"/>
            <a:ext cx="438912" cy="438912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62288" y="23225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0072" y="21579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日志审计</a:t>
            </a:r>
            <a:endParaRPr lang="en-US" sz="1230" dirty="0"/>
          </a:p>
        </p:txBody>
      </p:sp>
      <p:sp>
        <p:nvSpPr>
          <p:cNvPr id="27" name="Text 25"/>
          <p:cNvSpPr/>
          <p:nvPr/>
        </p:nvSpPr>
        <p:spPr>
          <a:xfrm>
            <a:off x="9720072" y="250545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登录、生成、删除、设置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6327648" y="3474720"/>
            <a:ext cx="2148840" cy="1124712"/>
          </a:xfrm>
          <a:prstGeom prst="roundRect">
            <a:avLst>
              <a:gd name="adj" fmla="val 6504"/>
            </a:avLst>
          </a:prstGeom>
          <a:solidFill>
            <a:srgbClr val="FFF4E3"/>
          </a:solidFill>
          <a:ln w="12700">
            <a:solidFill>
              <a:srgbClr val="D7DED6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56248" y="3785616"/>
            <a:ext cx="438912" cy="438912"/>
          </a:xfrm>
          <a:prstGeom prst="ellipse">
            <a:avLst/>
          </a:prstGeom>
          <a:solidFill>
            <a:srgbClr val="EF9C45"/>
          </a:solidFill>
          <a:ln w="12700">
            <a:solidFill>
              <a:srgbClr val="EF9C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56248" y="3895344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14032" y="373075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配置</a:t>
            </a:r>
            <a:endParaRPr lang="en-US" sz="1230" dirty="0"/>
          </a:p>
        </p:txBody>
      </p:sp>
      <p:sp>
        <p:nvSpPr>
          <p:cNvPr id="32" name="Text 30"/>
          <p:cNvSpPr/>
          <p:nvPr/>
        </p:nvSpPr>
        <p:spPr>
          <a:xfrm>
            <a:off x="7114032" y="407822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Key / Base URL / 模型测试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8933688" y="3474720"/>
            <a:ext cx="214884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2700">
            <a:solidFill>
              <a:srgbClr val="D7DED6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162288" y="3785616"/>
            <a:ext cx="438912" cy="438912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62288" y="3895344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720072" y="373075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243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外观配置</a:t>
            </a:r>
            <a:endParaRPr lang="en-US" sz="1230" dirty="0"/>
          </a:p>
        </p:txBody>
      </p:sp>
      <p:sp>
        <p:nvSpPr>
          <p:cNvPr id="37" name="Text 35"/>
          <p:cNvSpPr/>
          <p:nvPr/>
        </p:nvSpPr>
        <p:spPr>
          <a:xfrm>
            <a:off x="9720072" y="407822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品牌名、Logo、首页图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658368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D98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智能食谱生成系统 · 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2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D8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FEATURE DETAIL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购物清单：把菜谱结果落到行动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1234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FE1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收藏菜谱后自动汇总食材，支持单位归一、勾选采购项和手动补充。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86384" y="1847088"/>
            <a:ext cx="4206240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7DED6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1847088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1984248"/>
            <a:ext cx="91440" cy="91440"/>
          </a:xfrm>
          <a:prstGeom prst="ellipse">
            <a:avLst/>
          </a:prstGeom>
          <a:solidFill>
            <a:srgbClr val="D94C3D"/>
          </a:solidFill>
          <a:ln w="12700">
            <a:solidFill>
              <a:srgbClr val="D94C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1984248"/>
            <a:ext cx="91440" cy="91440"/>
          </a:xfrm>
          <a:prstGeom prst="ellipse">
            <a:avLst/>
          </a:prstGeom>
          <a:solidFill>
            <a:srgbClr val="FFD889"/>
          </a:solidFill>
          <a:ln w="12700">
            <a:solidFill>
              <a:srgbClr val="FFD8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98448" y="1984248"/>
            <a:ext cx="91440" cy="91440"/>
          </a:xfrm>
          <a:prstGeom prst="ellipse">
            <a:avLst/>
          </a:prstGeom>
          <a:solidFill>
            <a:srgbClr val="BFE8D3"/>
          </a:solidFill>
          <a:ln w="12700">
            <a:solidFill>
              <a:srgbClr val="BFE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9616" y="1975104"/>
            <a:ext cx="3291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5E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Shopping List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87552" y="2487168"/>
            <a:ext cx="3803904" cy="384048"/>
          </a:xfrm>
          <a:prstGeom prst="roundRect">
            <a:avLst>
              <a:gd name="adj" fmla="val 19048"/>
            </a:avLst>
          </a:prstGeom>
          <a:solidFill>
            <a:srgbClr val="F0F5F2"/>
          </a:solidFill>
          <a:ln w="12700">
            <a:solidFill>
              <a:srgbClr val="F0F5F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3072384"/>
            <a:ext cx="3803904" cy="749808"/>
          </a:xfrm>
          <a:prstGeom prst="roundRect">
            <a:avLst>
              <a:gd name="adj" fmla="val 9756"/>
            </a:avLst>
          </a:prstGeom>
          <a:solidFill>
            <a:srgbClr val="FFF4E3"/>
          </a:solidFill>
          <a:ln w="12700">
            <a:solidFill>
              <a:srgbClr val="FFF4E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" y="4005072"/>
            <a:ext cx="3803904" cy="256032"/>
          </a:xfrm>
          <a:prstGeom prst="roundRect">
            <a:avLst>
              <a:gd name="adj" fmla="val 28571"/>
            </a:avLst>
          </a:prstGeom>
          <a:solidFill>
            <a:srgbClr val="EF9C45"/>
          </a:solidFill>
          <a:ln w="12700">
            <a:solidFill>
              <a:srgbClr val="EF9C4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" y="4453128"/>
            <a:ext cx="1819656" cy="694944"/>
          </a:xfrm>
          <a:prstGeom prst="roundRect">
            <a:avLst>
              <a:gd name="adj" fmla="val 10526"/>
            </a:avLst>
          </a:prstGeom>
          <a:solidFill>
            <a:srgbClr val="F6F3EA"/>
          </a:solidFill>
          <a:ln w="12700">
            <a:solidFill>
              <a:srgbClr val="D7DE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71800" y="4453128"/>
            <a:ext cx="1819656" cy="694944"/>
          </a:xfrm>
          <a:prstGeom prst="roundRect">
            <a:avLst>
              <a:gd name="adj" fmla="val 10526"/>
            </a:avLst>
          </a:prstGeom>
          <a:solidFill>
            <a:srgbClr val="F6F3EA"/>
          </a:solidFill>
          <a:ln w="12700">
            <a:solidFill>
              <a:srgbClr val="D7DE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23560" y="2286000"/>
            <a:ext cx="1572768" cy="2514600"/>
          </a:xfrm>
          <a:prstGeom prst="roundRect">
            <a:avLst>
              <a:gd name="adj" fmla="val 4651"/>
            </a:avLst>
          </a:prstGeom>
          <a:solidFill>
            <a:srgbClr val="203C33"/>
          </a:solidFill>
          <a:ln w="12700">
            <a:solidFill>
              <a:srgbClr val="203C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24728" y="2615184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FE8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24728" y="2980944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单位归一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824728" y="3529584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ADD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克/g、毫升/ml、个/只/枚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7607808" y="2286000"/>
            <a:ext cx="1572768" cy="2514600"/>
          </a:xfrm>
          <a:prstGeom prst="roundRect">
            <a:avLst>
              <a:gd name="adj" fmla="val 4651"/>
            </a:avLst>
          </a:prstGeom>
          <a:solidFill>
            <a:srgbClr val="FFD889"/>
          </a:solidFill>
          <a:ln w="12700">
            <a:solidFill>
              <a:srgbClr val="FFD88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08976" y="2615184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08976" y="2980944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数量合并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808976" y="3529584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243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同名同单位自动累加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9592056" y="2286000"/>
            <a:ext cx="1572768" cy="2514600"/>
          </a:xfrm>
          <a:prstGeom prst="roundRect">
            <a:avLst>
              <a:gd name="adj" fmla="val 4651"/>
            </a:avLst>
          </a:prstGeom>
          <a:solidFill>
            <a:srgbClr val="203C33"/>
          </a:solidFill>
          <a:ln w="12700">
            <a:solidFill>
              <a:srgbClr val="203C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93224" y="2615184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FE8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793224" y="2980944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本地状态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793224" y="3529584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ADD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勾选、隐藏、手动添加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1280160" y="5641848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D8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这一页适合答辩时强调：AI 生成不是终点，项目继续解决“买什么、买多少”的实际问题。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658368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EC5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智能食谱生成系统 · 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7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DEPLOYMENT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部署与上线准备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1234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项目提供 Docker Compose 和非 Docker 两种部署方式，适配课程演示与服务器上线。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49808" y="1874520"/>
            <a:ext cx="4956048" cy="3182112"/>
          </a:xfrm>
          <a:prstGeom prst="roundRect">
            <a:avLst>
              <a:gd name="adj" fmla="val 2299"/>
            </a:avLst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55664" y="1874520"/>
            <a:ext cx="4956048" cy="3182112"/>
          </a:xfrm>
          <a:prstGeom prst="roundRect">
            <a:avLst>
              <a:gd name="adj" fmla="val 2299"/>
            </a:avLst>
          </a:prstGeom>
          <a:solidFill>
            <a:srgbClr val="FFF4E3"/>
          </a:solidFill>
          <a:ln w="12700">
            <a:solidFill>
              <a:srgbClr val="D7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70432" y="2907792"/>
            <a:ext cx="3291840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DDEB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容器自动建表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DDEB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API 容器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DDEB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Nginx 静态站点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DDEB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 反向代理到后端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6839712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 Docker 部署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0" y="2852928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+ MySQL + Nginx + systemd，另提供 PM2 配置，适合已有服务器环境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0" y="3675888"/>
            <a:ext cx="157276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E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86016" y="3758184"/>
            <a:ext cx="7132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上传代码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7717536" y="3762756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/ scp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8851392" y="3675888"/>
            <a:ext cx="157276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E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79408" y="3758184"/>
            <a:ext cx="7132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配置环境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9710928" y="3762756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.env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6858000" y="4352544"/>
            <a:ext cx="157276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E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86016" y="4434840"/>
            <a:ext cx="7132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初始化库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7717536" y="4439412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db:init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8851392" y="4352544"/>
            <a:ext cx="1572768" cy="438912"/>
          </a:xfrm>
          <a:prstGeom prst="roundRect">
            <a:avLst>
              <a:gd name="adj" fmla="val 16667"/>
            </a:avLst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79408" y="4434840"/>
            <a:ext cx="7132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启动服务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9710928" y="4439412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BFE8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systemd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4553712" y="5468112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D94C3D"/>
          </a:solidFill>
          <a:ln w="12700">
            <a:solidFill>
              <a:srgbClr val="D94C3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5545836"/>
            <a:ext cx="1335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生产安全清单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298448" y="5925312"/>
            <a:ext cx="9555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 JWT_SECRET · 强管理员密码 · CORS 限制 · 登录/注册/AI 生成限流 · API Key 加密可作为后续优化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658368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D98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智能食谱生成系统 ·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7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ENGINEERING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工程完成度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1234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除了功能页面，项目也补齐了测试、配置、脚本和部署文档。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49808" y="1828800"/>
            <a:ext cx="2962656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7DED6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24128" y="20665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F7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1828800" y="20574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 / TS / Vite / Tailwind / i18next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4498848" y="1828800"/>
            <a:ext cx="2962656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7DED6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20665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F7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5577840" y="20574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Express 5 / JWT / bcrypt / mysql2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8247888" y="1828800"/>
            <a:ext cx="2962656" cy="1042416"/>
          </a:xfrm>
          <a:prstGeom prst="roundRect">
            <a:avLst>
              <a:gd name="adj" fmla="val 7018"/>
            </a:avLst>
          </a:prstGeom>
          <a:solidFill>
            <a:srgbClr val="FFF4E3"/>
          </a:solidFill>
          <a:ln w="12700">
            <a:solidFill>
              <a:srgbClr val="D7DED6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22208" y="20665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D94C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9326880" y="20574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张核心表，含索引和外键约束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49808" y="3310128"/>
            <a:ext cx="2962656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7DED6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24128" y="35478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F7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1828800" y="35387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rateLimit、productionConfig、recipePresenter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498848" y="3310128"/>
            <a:ext cx="2962656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7DED6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73168" y="35478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F7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5577840" y="35387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db:init、admin:create、dev、build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8247888" y="3310128"/>
            <a:ext cx="2962656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7DED6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22208" y="35478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F7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9326880" y="35387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A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Dockerfile、Compose、Nginx、systemd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1965960" y="5212080"/>
            <a:ext cx="8183880" cy="475488"/>
          </a:xfrm>
          <a:prstGeom prst="roundRect">
            <a:avLst>
              <a:gd name="adj" fmla="val 15385"/>
            </a:avLst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65960" y="5376672"/>
            <a:ext cx="8183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BFE8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可继续优化方向：分页与筛选增强、AI Key 加密存储、更多单元测试、移动端细节打磨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658368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D98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智能食谱生成系统 ·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2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585216"/>
            <a:ext cx="1275588" cy="1275588"/>
          </a:xfrm>
          <a:prstGeom prst="ellipse">
            <a:avLst/>
          </a:prstGeom>
          <a:solidFill>
            <a:srgbClr val="ECF5EE"/>
          </a:solidFill>
          <a:ln w="12700">
            <a:solidFill>
              <a:srgbClr val="ECF5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87154" y="716890"/>
            <a:ext cx="1012241" cy="101224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09353" y="930859"/>
            <a:ext cx="452628" cy="452628"/>
          </a:xfrm>
          <a:prstGeom prst="ellipse">
            <a:avLst/>
          </a:prstGeom>
          <a:solidFill>
            <a:srgbClr val="EF9C45"/>
          </a:solidFill>
          <a:ln w="12700">
            <a:solidFill>
              <a:srgbClr val="EF9C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20833" y="1021385"/>
            <a:ext cx="230429" cy="230429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99878" y="1260043"/>
            <a:ext cx="197510" cy="197510"/>
          </a:xfrm>
          <a:prstGeom prst="ellipse">
            <a:avLst/>
          </a:prstGeom>
          <a:solidFill>
            <a:srgbClr val="D94C3D"/>
          </a:solidFill>
          <a:ln w="12700">
            <a:solidFill>
              <a:srgbClr val="D94C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38537" y="1342339"/>
            <a:ext cx="205740" cy="205740"/>
          </a:xfrm>
          <a:prstGeom prst="ellipse">
            <a:avLst/>
          </a:prstGeom>
          <a:solidFill>
            <a:srgbClr val="FFD889"/>
          </a:solidFill>
          <a:ln w="12700">
            <a:solidFill>
              <a:srgbClr val="FFD8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411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D8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DEMO ROUTE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71323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答辩演示路线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76656" y="1234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FE1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按“用户流程 + 管理后台”的顺序讲，逻辑最清晰。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1700784"/>
            <a:ext cx="438912" cy="438912"/>
          </a:xfrm>
          <a:prstGeom prst="ellipse">
            <a:avLst/>
          </a:prstGeom>
          <a:solidFill>
            <a:srgbClr val="FFD889"/>
          </a:solidFill>
          <a:ln w="12700">
            <a:solidFill>
              <a:srgbClr val="FFD8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72768" y="17190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登录系统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1572768" y="206654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FE1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说明用户身份和权限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63640" y="1700784"/>
            <a:ext cx="438912" cy="438912"/>
          </a:xfrm>
          <a:prstGeom prst="ellipse">
            <a:avLst/>
          </a:prstGeom>
          <a:solidFill>
            <a:srgbClr val="FFD889"/>
          </a:solidFill>
          <a:ln w="12700">
            <a:solidFill>
              <a:srgbClr val="FFD8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810512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22008" y="17190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输入食材生成菜谱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6922008" y="206654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FE1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展示偏好条件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4400" y="2743200"/>
            <a:ext cx="438912" cy="438912"/>
          </a:xfrm>
          <a:prstGeom prst="ellipse">
            <a:avLst/>
          </a:prstGeom>
          <a:solidFill>
            <a:srgbClr val="FFD889"/>
          </a:solidFill>
          <a:ln w="12700">
            <a:solidFill>
              <a:srgbClr val="FFD8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852928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72768" y="276148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收藏并打开详情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1572768" y="310896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FE1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查看步骤、图片和视频搜索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63640" y="2743200"/>
            <a:ext cx="438912" cy="438912"/>
          </a:xfrm>
          <a:prstGeom prst="ellipse">
            <a:avLst/>
          </a:prstGeom>
          <a:solidFill>
            <a:srgbClr val="FFD889"/>
          </a:solidFill>
          <a:ln w="12700">
            <a:solidFill>
              <a:srgbClr val="FFD8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2852928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22008" y="276148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编辑个人副本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6922008" y="310896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FE1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展示版本历史与恢复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14400" y="3785616"/>
            <a:ext cx="438912" cy="438912"/>
          </a:xfrm>
          <a:prstGeom prst="ellipse">
            <a:avLst/>
          </a:prstGeom>
          <a:solidFill>
            <a:srgbClr val="FFD889"/>
          </a:solidFill>
          <a:ln w="12700">
            <a:solidFill>
              <a:srgbClr val="FFD88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895344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72768" y="38039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查看购物清单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1572768" y="4151376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FE1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展示单位合并和勾选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63640" y="3785616"/>
            <a:ext cx="438912" cy="438912"/>
          </a:xfrm>
          <a:prstGeom prst="ellipse">
            <a:avLst/>
          </a:prstGeom>
          <a:solidFill>
            <a:srgbClr val="D94C3D"/>
          </a:solidFill>
          <a:ln w="12700">
            <a:solidFill>
              <a:srgbClr val="D94C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895344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22008" y="38039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进入后台管理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6922008" y="4151376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FE1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展示统计、日志、AI 配置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011680" y="5650992"/>
            <a:ext cx="8183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8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谢谢观看，欢迎老师和同学提出建议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3712464" y="618134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D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计科1班  202406024149  李相阳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计科1班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智能食谱生成系统项目答辩-精美版</dc:title>
  <dc:subject>智能食谱生成系统项目答辩</dc:subject>
  <dc:creator>李相阳</dc:creator>
  <cp:lastModifiedBy>李相阳</cp:lastModifiedBy>
  <cp:revision>1</cp:revision>
  <dcterms:created xsi:type="dcterms:W3CDTF">2026-05-20T05:55:13Z</dcterms:created>
  <dcterms:modified xsi:type="dcterms:W3CDTF">2026-05-20T05:55:13Z</dcterms:modified>
</cp:coreProperties>
</file>